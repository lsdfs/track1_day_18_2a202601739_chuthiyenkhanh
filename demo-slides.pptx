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6612e91a9b418c" /><Relationship Type="http://schemas.openxmlformats.org/officeDocument/2006/relationships/extended-properties" Target="/docProps/app.xml" Id="R6ead14fc4ba24ed0" /><Relationship Type="http://schemas.openxmlformats.org/officeDocument/2006/relationships/officeDocument" Target="/ppt/presentation.xml" Id="Rbe3e9f63248c4d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b14258fde4911"/>
  </p:sldMasterIdLst>
  <p:notesMasterIdLst>
    <p:notesMasterId xmlns:r="http://schemas.openxmlformats.org/officeDocument/2006/relationships" r:id="Rc972a206946f4a42"/>
  </p:notesMasterIdLst>
  <p:sldIdLst>
    <p:sldId xmlns:r="http://schemas.openxmlformats.org/officeDocument/2006/relationships" id="256" r:id="Rcdcc4fb8042c450d"/>
    <p:sldId xmlns:r="http://schemas.openxmlformats.org/officeDocument/2006/relationships" id="257" r:id="Rf8b8c30f09664066"/>
    <p:sldId xmlns:r="http://schemas.openxmlformats.org/officeDocument/2006/relationships" id="258" r:id="R0362d59c3cdb4974"/>
    <p:sldId xmlns:r="http://schemas.openxmlformats.org/officeDocument/2006/relationships" id="259" r:id="Rd5d3ba4a9cd042e0"/>
    <p:sldId xmlns:r="http://schemas.openxmlformats.org/officeDocument/2006/relationships" id="260" r:id="R35804f73f541446d"/>
    <p:sldId xmlns:r="http://schemas.openxmlformats.org/officeDocument/2006/relationships" id="261" r:id="Rc0afbf189d634c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0572e2dd934264" /><Relationship Type="http://schemas.openxmlformats.org/officeDocument/2006/relationships/slideMaster" Target="/ppt/slideMasters/slideMaster1.xml" Id="R5e3b14258fde4911" /><Relationship Type="http://schemas.openxmlformats.org/officeDocument/2006/relationships/notesMaster" Target="/ppt/notesMasters/notesMaster1.xml" Id="Rc972a206946f4a42" /><Relationship Type="http://schemas.openxmlformats.org/officeDocument/2006/relationships/presProps" Target="/ppt/presProps.xml" Id="R4ece2fb97bfe42f6" /><Relationship Type="http://schemas.openxmlformats.org/officeDocument/2006/relationships/tableStyles" Target="/ppt/tableStyles.xml" Id="R17b0a5259e0d4ac4" /><Relationship Type="http://schemas.openxmlformats.org/officeDocument/2006/relationships/slide" Target="/ppt/slides/slide1.xml" Id="Rcdcc4fb8042c450d" /><Relationship Type="http://schemas.openxmlformats.org/officeDocument/2006/relationships/slide" Target="/ppt/slides/slide2.xml" Id="Rf8b8c30f09664066" /><Relationship Type="http://schemas.openxmlformats.org/officeDocument/2006/relationships/slide" Target="/ppt/slides/slide3.xml" Id="R0362d59c3cdb4974" /><Relationship Type="http://schemas.openxmlformats.org/officeDocument/2006/relationships/slide" Target="/ppt/slides/slide4.xml" Id="Rd5d3ba4a9cd042e0" /><Relationship Type="http://schemas.openxmlformats.org/officeDocument/2006/relationships/slide" Target="/ppt/slides/slide5.xml" Id="R35804f73f541446d" /><Relationship Type="http://schemas.openxmlformats.org/officeDocument/2006/relationships/slide" Target="/ppt/slides/slide6.xml" Id="Rc0afbf189d634c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cf47bd8e0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e652e33de4d7e" /><Relationship Type="http://schemas.openxmlformats.org/officeDocument/2006/relationships/notesMaster" Target="/ppt/notesMasters/notesMaster1.xml" Id="R162eda782eda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d4f66a99e244a9" /><Relationship Type="http://schemas.openxmlformats.org/officeDocument/2006/relationships/notesMaster" Target="/ppt/notesMasters/notesMaster1.xml" Id="Re03a02afbd3941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77c945c2ce4851" /><Relationship Type="http://schemas.openxmlformats.org/officeDocument/2006/relationships/notesMaster" Target="/ppt/notesMasters/notesMaster1.xml" Id="R9da57136c5e642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bd7ca236424417" /><Relationship Type="http://schemas.openxmlformats.org/officeDocument/2006/relationships/notesMaster" Target="/ppt/notesMasters/notesMaster1.xml" Id="R85fef67979d04c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fa181412a94baf" /><Relationship Type="http://schemas.openxmlformats.org/officeDocument/2006/relationships/notesMaster" Target="/ppt/notesMasters/notesMaster1.xml" Id="R9ee0a7c377ac47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2a03a00e584d4e" /><Relationship Type="http://schemas.openxmlformats.org/officeDocument/2006/relationships/notesMaster" Target="/ppt/notesMasters/notesMaster1.xml" Id="R1d09f1bc06f749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§1 Evidence: 14/20 (70%) spend over 15 minutes; 10/20 (50%) cite long slides/key idea difficulty; 15/20 (75%) willing to try summary + quiz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§2 Impact &amp; decision: candidate table with learner 19/20, lecturer 0/20, TA 0/20; learner selected for survey evidence and feasibility.</a:t>
            </a:r>
          </a:p>
          <a:p xmlns:a="http://schemas.openxmlformats.org/drawingml/2006/main">
            <a:r>
              <a:t>spec.md §4 Design: one-sentence slice and non-goals.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asset: .codex-slides-build/assets/vlearn-ui.png captured from local frontend with mock API.</a:t>
            </a:r>
          </a:p>
          <a:p xmlns:a="http://schemas.openxmlformats.org/drawingml/2006/main">
            <a:r>
              <a:t>codebase/frontend/src/App.jsx: learner flow, chat panel, summary card, quiz-ready card.</a:t>
            </a:r>
          </a:p>
          <a:p xmlns:a="http://schemas.openxmlformats.org/drawingml/2006/main">
            <a:r>
              <a:t>spec.md §4 Design and §6 Experience paths: happy path, failure/no basis, out-of-scope and hard-case behavior.</a:t>
            </a:r>
          </a:p>
          <a:p xmlns:a="http://schemas.openxmlformats.org/drawingml/2006/main">
            <a:r>
              <a:t>eval/results-20260730-212947.json: rare cases invalid-lesson, path-traversal, prompt-injection and unsupported-intent passed in final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§7 Testing: quality bar &gt;=75%, no wrong file, no hallucination; run table 17/20, 20/20, 20/20.</a:t>
            </a:r>
          </a:p>
          <a:p xmlns:a="http://schemas.openxmlformats.org/drawingml/2006/main">
            <a:r>
              <a:t>eval/results-20260730-212947.json: total 20, passed 20, failed 0, pass_rate 1.0, max latency 29.614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validation/feedback-log.md: all five tester rows marked 'Chưa thực hiện'; quote fields are empty; confirmation checklist is unchecked.</a:t>
            </a:r>
          </a:p>
          <a:p xmlns:a="http://schemas.openxmlformats.org/drawingml/2006/main">
            <a:r>
              <a:t>spec.md §8 and §9: willing-user plan and changelog are not yet populated.</a:t>
            </a:r>
          </a:p>
          <a:p xmlns:a="http://schemas.openxmlformats.org/drawingml/2006/main">
            <a:r>
              <a:t>02-guide.md §5.1 asks for real-user validation in slide 5; this slide intentionally reports the current gap rather than inventing quotes.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validation/feedback-log.md: 0/5 user tests completed; rows still marked 'Chưa thực hiện'; quote fields empty; confirmation checklist unchecked.</a:t>
            </a:r>
          </a:p>
          <a:p xmlns:a="http://schemas.openxmlformats.org/drawingml/2006/main">
            <a:r>
              <a:t>spec.md §5 Risks, §6 Experience paths and §9 Changelog: next-week priorities derive from grounding, failure paths, latency and feedback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5252113e541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19460ce61746f3" /><Relationship Type="http://schemas.openxmlformats.org/officeDocument/2006/relationships/slideLayout" Target="/ppt/slideLayouts/slideLayout1.xml" Id="R91ebdc48288d47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ebdc48288d47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455eee5e441eb" /><Relationship Type="http://schemas.openxmlformats.org/officeDocument/2006/relationships/notesSlide" Target="/ppt/notesSlides/notesSlide1.xml" Id="R1ef95bf3844b4f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ea55a164b44b7" /><Relationship Type="http://schemas.openxmlformats.org/officeDocument/2006/relationships/notesSlide" Target="/ppt/notesSlides/notesSlide2.xml" Id="R3787f36c25684e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1b68818ed4789" /><Relationship Type="http://schemas.openxmlformats.org/officeDocument/2006/relationships/image" Target="/ppt/media/image.png" Id="Rbd058378f93b4bd5" /><Relationship Type="http://schemas.openxmlformats.org/officeDocument/2006/relationships/notesSlide" Target="/ppt/notesSlides/notesSlide3.xml" Id="R55b16533c7a9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0611e8c93457e" /><Relationship Type="http://schemas.openxmlformats.org/officeDocument/2006/relationships/chart" Target="/ppt/slides/charts/chart1.xml" Id="R16890b3ac9dc4c70" /><Relationship Type="http://schemas.openxmlformats.org/officeDocument/2006/relationships/notesSlide" Target="/ppt/notesSlides/notesSlide4.xml" Id="R457d68abe6c745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55c685ed74374" /><Relationship Type="http://schemas.openxmlformats.org/officeDocument/2006/relationships/notesSlide" Target="/ppt/notesSlides/notesSlide5.xml" Id="R4af43a25463e46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8da5d747d488e" /><Relationship Type="http://schemas.openxmlformats.org/officeDocument/2006/relationships/notesSlide" Target="/ppt/notesSlides/notesSlide6.xml" Id="R63d175cc8f8a4f6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Pass rate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Run 1</c:v>
              </c:pt>
              <c:pt idx="1">
                <c:v>Run 2</c:v>
              </c:pt>
              <c:pt idx="2">
                <c:v>Run 3</c:v>
              </c:pt>
            </c:strLit>
          </c:cat>
          <c:val>
            <c:numLit>
              <c:formatCode>General</c:formatCode>
              <c:ptCount val="3"/>
              <c:pt idx="0">
                <c:v>85</c:v>
              </c:pt>
              <c:pt idx="1">
                <c:v>100</c:v>
              </c:pt>
              <c:pt idx="2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171"/>
                </a:solidFill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-1">
            <a:extLst xmlns:a="http://schemas.openxmlformats.org/drawingml/2006/main">
              <a:ext uri="{FF2B5EF4-FFF2-40B4-BE49-F238E27FC236}">
                <a16:creationId xmlns:a16="http://schemas.microsoft.com/office/drawing/2014/main" id="{4793F13D-FF9A-48BD-A572-0BD194A5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2" name="pain-title">
            <a:extLst xmlns:a="http://schemas.openxmlformats.org/drawingml/2006/main">
              <a:ext uri="{FF2B5EF4-FFF2-40B4-BE49-F238E27FC236}">
                <a16:creationId xmlns:a16="http://schemas.microsoft.com/office/drawing/2014/main" id="{A8F81230-18FB-43F2-8DCB-8B2BDD98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User job rõ nhất: ôn slide trước kỳ thi</a:t>
            </a:r>
          </a:p>
        </p:txBody>
      </p:sp>
      <p:sp>
        <p:nvSpPr>
          <p:cNvPr id="3" name="pain-body">
            <a:extLst xmlns:a="http://schemas.openxmlformats.org/drawingml/2006/main">
              <a:ext uri="{FF2B5EF4-FFF2-40B4-BE49-F238E27FC236}">
                <a16:creationId xmlns:a16="http://schemas.microsoft.com/office/drawing/2014/main" id="{58BB9CBC-A095-4307-94F3-4153743E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71"/>
                </a:solidFill>
              </a:defRPr>
            </a:pPr>
            <a:r>
              <a:rPr sz="1800" b="0">
                <a:solidFill>
                  <a:srgbClr val="596171"/>
                </a:solidFill>
              </a:rPr>
              <a:t>Khảo sát 20 người học cho thấy vấn đề không nằm ở việc thiếu tài liệu, mà ở việc lọc ý chính và biến tài liệu thành bài ôn có thể tự kiểm tra.</a:t>
            </a:r>
          </a:p>
        </p:txBody>
      </p:sp>
      <p:sp>
        <p:nvSpPr>
          <p:cNvPr id="4" name="stat-card-1">
            <a:extLst xmlns:a="http://schemas.openxmlformats.org/drawingml/2006/main">
              <a:ext uri="{FF2B5EF4-FFF2-40B4-BE49-F238E27FC236}">
                <a16:creationId xmlns:a16="http://schemas.microsoft.com/office/drawing/2014/main" id="{62EED27B-E0DD-47FC-9A41-28B3CCF7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-1">
            <a:extLst xmlns:a="http://schemas.openxmlformats.org/drawingml/2006/main">
              <a:ext uri="{FF2B5EF4-FFF2-40B4-BE49-F238E27FC236}">
                <a16:creationId xmlns:a16="http://schemas.microsoft.com/office/drawing/2014/main" id="{AA969EFF-D935-4CE6-9ECA-9862CCD7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71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70%</a:t>
            </a:r>
          </a:p>
        </p:txBody>
      </p:sp>
      <p:sp>
        <p:nvSpPr>
          <p:cNvPr id="6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E12AE8C4-D717-428F-AC4E-F9A7D28B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7625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mất hơn 15 phút để ôn một bộ slide</a:t>
            </a:r>
          </a:p>
        </p:txBody>
      </p:sp>
      <p:sp>
        <p:nvSpPr>
          <p:cNvPr id="7" name="stat-card-2">
            <a:extLst xmlns:a="http://schemas.openxmlformats.org/drawingml/2006/main">
              <a:ext uri="{FF2B5EF4-FFF2-40B4-BE49-F238E27FC236}">
                <a16:creationId xmlns:a16="http://schemas.microsoft.com/office/drawing/2014/main" id="{BA4EFCFC-3C1E-4EF1-8FCE-5CC1F8B4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-2">
            <a:extLst xmlns:a="http://schemas.openxmlformats.org/drawingml/2006/main">
              <a:ext uri="{FF2B5EF4-FFF2-40B4-BE49-F238E27FC236}">
                <a16:creationId xmlns:a16="http://schemas.microsoft.com/office/drawing/2014/main" id="{62C8F89A-79F2-4826-92B8-ABC1F565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71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50%</a:t>
            </a:r>
          </a:p>
        </p:txBody>
      </p:sp>
      <p:sp>
        <p:nvSpPr>
          <p:cNvPr id="9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5341265D-B451-4660-841B-4998D02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7625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khó vì slide dài, khó xác định nội dung chính</a:t>
            </a:r>
          </a:p>
        </p:txBody>
      </p:sp>
      <p:sp>
        <p:nvSpPr>
          <p:cNvPr id="10" name="stat-card-3">
            <a:extLst xmlns:a="http://schemas.openxmlformats.org/drawingml/2006/main">
              <a:ext uri="{FF2B5EF4-FFF2-40B4-BE49-F238E27FC236}">
                <a16:creationId xmlns:a16="http://schemas.microsoft.com/office/drawing/2014/main" id="{B041BFD3-F1A7-44D0-A237-14467894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58154A45-DE4F-47B9-9C9A-F9E5C833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371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75%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23537CDE-C485-4844-9DB6-65953A58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7625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sẵn sàng thử prototype tóm tắt và tạo quiz</a:t>
            </a:r>
          </a:p>
        </p:txBody>
      </p:sp>
    </p:spTree>
    <p:extLst>
      <p:ext uri="{BB962C8B-B14F-4D97-AF65-F5344CB8AC3E}">
        <p14:creationId xmlns:p14="http://schemas.microsoft.com/office/powerpoint/2010/main" val="1959720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A6E42441-49BF-4698-9F37-92BAE21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2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EC9335AD-BC5D-4F75-89F3-8B302DBB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Chọn sinh viên vì pain có số và MVP đủ nhỏ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93668" y="1866900"/>
          <a:ext xmlns:a="http://schemas.openxmlformats.org/drawingml/2006/main" cx="11404664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1524000"/>
                <a:gridCol w="1762125"/>
                <a:gridCol w="2000250"/>
                <a:gridCol w="1047750"/>
                <a:gridCol w="2686050"/>
              </a:tblGrid>
              <a:tr h="857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Ứng viên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Bao nhiêu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Tần suất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Tốn mỗi lần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Khả thi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Quyết định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200"/>
                        <a:t>Học viên / sinh viên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19/20 (95%)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3-5 buổi/tuần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16-60 phút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5/5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Chọn</a:t>
                      </a:r>
                    </a:p>
                  </a:txBody>
                  <a:tcPr marL="91440" marR="91440" marT="45720" marB="45720">
                    <a:solidFill>
                      <a:srgbClr val="EAF7F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200"/>
                        <a:t>Giảng viên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0/20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Chưa có dữ liệu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Chưa đo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1/5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Loại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200"/>
                        <a:t>Trợ giảng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0/20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Chưa có dữ liệu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Chưa đo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1/5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Loại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4" name="decision-caption">
            <a:extLst xmlns:a="http://schemas.openxmlformats.org/drawingml/2006/main">
              <a:ext uri="{FF2B5EF4-FFF2-40B4-BE49-F238E27FC236}">
                <a16:creationId xmlns:a16="http://schemas.microsoft.com/office/drawing/2014/main" id="{5E478D0E-D618-41A7-AFCC-CF8941DB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71"/>
                </a:solidFill>
              </a:defRPr>
            </a:pPr>
            <a:r>
              <a:rPr sz="1650" b="0">
                <a:solidFill>
                  <a:srgbClr val="596171"/>
                </a:solidFill>
              </a:rPr>
              <a:t>Feature demo tập trung vào learner workflow: chọn bài giảng -&gt; hỏi Tutor -&gt; nhận summary/PDF -&gt; tạo quiz.</a:t>
            </a:r>
          </a:p>
        </p:txBody>
      </p:sp>
    </p:spTree>
    <p:extLst>
      <p:ext uri="{BB962C8B-B14F-4D97-AF65-F5344CB8AC3E}">
        <p14:creationId xmlns:p14="http://schemas.microsoft.com/office/powerpoint/2010/main" val="1071631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9676B97A-3BDD-473C-871A-32BBBC4D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2" name="demo-title">
            <a:extLst xmlns:a="http://schemas.openxmlformats.org/drawingml/2006/main">
              <a:ext uri="{FF2B5EF4-FFF2-40B4-BE49-F238E27FC236}">
                <a16:creationId xmlns:a16="http://schemas.microsoft.com/office/drawing/2014/main" id="{3B2C7296-924E-4A04-AE53-1BCB3AA5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Demo: flow summary + quiz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58378f93b4bd5"/>
          <a:stretch xmlns:a="http://schemas.openxmlformats.org/drawingml/2006/main"/>
        </p:blipFill>
        <p:spPr>
          <a:xfrm xmlns:a="http://schemas.openxmlformats.org/drawingml/2006/main">
            <a:off x="6269069" y="1427808"/>
            <a:ext cx="5539740" cy="3539278"/>
          </a:xfrm>
          <a:prstGeom xmlns:a="http://schemas.openxmlformats.org/drawingml/2006/main" prst="roundRect">
            <a:avLst/>
          </a:prstGeom>
        </p:spPr>
      </p:pic>
      <p:sp>
        <p:nvSpPr>
          <p:cNvPr id="4" name="demo-body">
            <a:extLst xmlns:a="http://schemas.openxmlformats.org/drawingml/2006/main">
              <a:ext uri="{FF2B5EF4-FFF2-40B4-BE49-F238E27FC236}">
                <a16:creationId xmlns:a16="http://schemas.microsoft.com/office/drawing/2014/main" id="{7B1CF9A4-1A9B-4531-B0C6-6178C23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Standard case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Day 2 slide -&gt; tóm tắt có cấu trúc -&gt; link PDF -&gt; quiz 8 câu.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Hard case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lesson_id lạ, path traversal, prompt injection hoặc hỏi ngoài phạm vi -&gt; không bịa, trả lời có giới hạn.</a:t>
            </a:r>
          </a:p>
        </p:txBody>
      </p:sp>
    </p:spTree>
    <p:extLst>
      <p:ext uri="{BB962C8B-B14F-4D97-AF65-F5344CB8AC3E}">
        <p14:creationId xmlns:p14="http://schemas.microsoft.com/office/powerpoint/2010/main" val="1179120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-4">
            <a:extLst xmlns:a="http://schemas.openxmlformats.org/drawingml/2006/main">
              <a:ext uri="{FF2B5EF4-FFF2-40B4-BE49-F238E27FC236}">
                <a16:creationId xmlns:a16="http://schemas.microsoft.com/office/drawing/2014/main" id="{F7A0F69E-9339-4B24-9AF8-E0E82939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2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A4E2F56C-95D4-4C8D-8C80-6867B58D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Eval: 20/20 ở run cuối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8718" y="1238250"/>
          <a:ext xmlns:a="http://schemas.openxmlformats.org/drawingml/2006/main" cx="5124164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890b3ac9dc4c70"/>
          </a:graphicData>
        </a:graphic>
      </p:graphicFrame>
      <p:sp>
        <p:nvSpPr>
          <p:cNvPr id="4" name="result-card-1">
            <a:extLst xmlns:a="http://schemas.openxmlformats.org/drawingml/2006/main">
              <a:ext uri="{FF2B5EF4-FFF2-40B4-BE49-F238E27FC236}">
                <a16:creationId xmlns:a16="http://schemas.microsoft.com/office/drawing/2014/main" id="{A8177D52-A777-4A66-B66D-7B91E28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sult-card-title-1">
            <a:extLst xmlns:a="http://schemas.openxmlformats.org/drawingml/2006/main">
              <a:ext uri="{FF2B5EF4-FFF2-40B4-BE49-F238E27FC236}">
                <a16:creationId xmlns:a16="http://schemas.microsoft.com/office/drawing/2014/main" id="{AFB6317D-033D-4E9C-87CC-76C9A108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60368"/>
            <a:ext cx="49869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Quality bar</a:t>
            </a:r>
          </a:p>
        </p:txBody>
      </p:sp>
      <p:sp>
        <p:nvSpPr>
          <p:cNvPr id="6" name="result-card-body-1">
            <a:extLst xmlns:a="http://schemas.openxmlformats.org/drawingml/2006/main">
              <a:ext uri="{FF2B5EF4-FFF2-40B4-BE49-F238E27FC236}">
                <a16:creationId xmlns:a16="http://schemas.microsoft.com/office/drawing/2014/main" id="{3939DDA3-A94F-4BAF-ACCD-CCDBCFAF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1060418"/>
            <a:ext cx="4986909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1"/>
                </a:solidFill>
              </a:defRPr>
            </a:pPr>
            <a:r>
              <a:rPr sz="1500" b="0">
                <a:solidFill>
                  <a:srgbClr val="596171"/>
                </a:solidFill>
              </a:rPr>
              <a:t>Spec chốt: pass &gt;=75%, không lấy sai file và không bịa thông tin.</a:t>
            </a:r>
          </a:p>
        </p:txBody>
      </p:sp>
      <p:sp>
        <p:nvSpPr>
          <p:cNvPr id="7" name="result-card-2">
            <a:extLst xmlns:a="http://schemas.openxmlformats.org/drawingml/2006/main">
              <a:ext uri="{FF2B5EF4-FFF2-40B4-BE49-F238E27FC236}">
                <a16:creationId xmlns:a16="http://schemas.microsoft.com/office/drawing/2014/main" id="{5B328D1F-764B-4F7D-993B-FF3F5D3B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-card-title-2">
            <a:extLst xmlns:a="http://schemas.openxmlformats.org/drawingml/2006/main">
              <a:ext uri="{FF2B5EF4-FFF2-40B4-BE49-F238E27FC236}">
                <a16:creationId xmlns:a16="http://schemas.microsoft.com/office/drawing/2014/main" id="{89F626F7-2E14-4FB3-AC17-B4F19C5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36520"/>
            <a:ext cx="49869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Run cuối</a:t>
            </a:r>
          </a:p>
        </p:txBody>
      </p:sp>
      <p:sp>
        <p:nvSpPr>
          <p:cNvPr id="9" name="result-card-body-2">
            <a:extLst xmlns:a="http://schemas.openxmlformats.org/drawingml/2006/main">
              <a:ext uri="{FF2B5EF4-FFF2-40B4-BE49-F238E27FC236}">
                <a16:creationId xmlns:a16="http://schemas.microsoft.com/office/drawing/2014/main" id="{78DA0729-5A30-443C-9B19-75848C09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3036570"/>
            <a:ext cx="4986909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1"/>
                </a:solidFill>
              </a:defRPr>
            </a:pPr>
            <a:r>
              <a:rPr sz="1500" b="0">
                <a:solidFill>
                  <a:srgbClr val="596171"/>
                </a:solidFill>
              </a:rPr>
              <a:t>20/20 case pass; nhóm hard và rare đều đạt theo file kết quả.</a:t>
            </a:r>
          </a:p>
        </p:txBody>
      </p:sp>
      <p:sp>
        <p:nvSpPr>
          <p:cNvPr id="10" name="result-card-3">
            <a:extLst xmlns:a="http://schemas.openxmlformats.org/drawingml/2006/main">
              <a:ext uri="{FF2B5EF4-FFF2-40B4-BE49-F238E27FC236}">
                <a16:creationId xmlns:a16="http://schemas.microsoft.com/office/drawing/2014/main" id="{E677911A-BC07-4813-A961-4C404CC8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ult-card-title-3">
            <a:extLst xmlns:a="http://schemas.openxmlformats.org/drawingml/2006/main">
              <a:ext uri="{FF2B5EF4-FFF2-40B4-BE49-F238E27FC236}">
                <a16:creationId xmlns:a16="http://schemas.microsoft.com/office/drawing/2014/main" id="{7A2E900F-D603-429E-A253-AA1A60A4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48200"/>
            <a:ext cx="49869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Rủi ro còn lại</a:t>
            </a:r>
          </a:p>
        </p:txBody>
      </p:sp>
      <p:sp>
        <p:nvSpPr>
          <p:cNvPr id="12" name="result-card-body-3">
            <a:extLst xmlns:a="http://schemas.openxmlformats.org/drawingml/2006/main">
              <a:ext uri="{FF2B5EF4-FFF2-40B4-BE49-F238E27FC236}">
                <a16:creationId xmlns:a16="http://schemas.microsoft.com/office/drawing/2014/main" id="{7709E0E1-C53B-4B22-A396-CB2F7597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5048250"/>
            <a:ext cx="4986909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1"/>
                </a:solidFill>
              </a:defRPr>
            </a:pPr>
            <a:r>
              <a:rPr sz="1500" b="0">
                <a:solidFill>
                  <a:srgbClr val="596171"/>
                </a:solidFill>
              </a:rPr>
              <a:t>Latency tối đa 29.6s trong run cuối; demo live cần fallback và bản ghi dự phòng.</a:t>
            </a:r>
          </a:p>
        </p:txBody>
      </p:sp>
    </p:spTree>
    <p:extLst>
      <p:ext uri="{BB962C8B-B14F-4D97-AF65-F5344CB8AC3E}">
        <p14:creationId xmlns:p14="http://schemas.microsoft.com/office/powerpoint/2010/main" val="715579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-5">
            <a:extLst xmlns:a="http://schemas.openxmlformats.org/drawingml/2006/main">
              <a:ext uri="{FF2B5EF4-FFF2-40B4-BE49-F238E27FC236}">
                <a16:creationId xmlns:a16="http://schemas.microsoft.com/office/drawing/2014/main" id="{ECFC7473-D93E-4984-B30C-C381D519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05</a:t>
            </a:r>
          </a:p>
        </p:txBody>
      </p:sp>
      <p:sp>
        <p:nvSpPr>
          <p:cNvPr id="2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5F47A8A2-B9CC-405D-B176-7CDC0836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Validation thật chưa đủ để claim</a:t>
            </a:r>
          </a:p>
        </p:txBody>
      </p:sp>
      <p:sp>
        <p:nvSpPr>
          <p:cNvPr id="3" name="validation-body">
            <a:extLst xmlns:a="http://schemas.openxmlformats.org/drawingml/2006/main">
              <a:ext uri="{FF2B5EF4-FFF2-40B4-BE49-F238E27FC236}">
                <a16:creationId xmlns:a16="http://schemas.microsoft.com/office/drawing/2014/main" id="{B6451525-4CE4-4261-B3CC-3CE10D86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71"/>
                </a:solidFill>
              </a:defRPr>
            </a:pPr>
            <a:r>
              <a:rPr sz="1800" b="0">
                <a:solidFill>
                  <a:srgbClr val="596171"/>
                </a:solidFill>
              </a:rPr>
              <a:t>Feedback log hiện đang giữ đúng nguyên tắc: không điền dữ liệu giả. Vì chưa có người thử thật, phần demo nên nói đây là risk còn mở, không trình bày như validation đã hoàn tất.</a:t>
            </a:r>
          </a:p>
        </p:txBody>
      </p:sp>
      <p:sp>
        <p:nvSpPr>
          <p:cNvPr id="4" name="stat-card-1">
            <a:extLst xmlns:a="http://schemas.openxmlformats.org/drawingml/2006/main">
              <a:ext uri="{FF2B5EF4-FFF2-40B4-BE49-F238E27FC236}">
                <a16:creationId xmlns:a16="http://schemas.microsoft.com/office/drawing/2014/main" id="{33D38CB4-A4F3-41A9-96DC-BB383D6B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-1">
            <a:extLst xmlns:a="http://schemas.openxmlformats.org/drawingml/2006/main">
              <a:ext uri="{FF2B5EF4-FFF2-40B4-BE49-F238E27FC236}">
                <a16:creationId xmlns:a16="http://schemas.microsoft.com/office/drawing/2014/main" id="{859789AE-C481-47AE-89D2-CE107DA8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71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0/5</a:t>
            </a:r>
          </a:p>
        </p:txBody>
      </p:sp>
      <p:sp>
        <p:nvSpPr>
          <p:cNvPr id="6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6DA28B23-48DC-4410-89C6-4AFE2A24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7625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phiên test ngoài nhóm đã hoàn thành</a:t>
            </a:r>
          </a:p>
        </p:txBody>
      </p:sp>
      <p:sp>
        <p:nvSpPr>
          <p:cNvPr id="7" name="stat-card-2">
            <a:extLst xmlns:a="http://schemas.openxmlformats.org/drawingml/2006/main">
              <a:ext uri="{FF2B5EF4-FFF2-40B4-BE49-F238E27FC236}">
                <a16:creationId xmlns:a16="http://schemas.microsoft.com/office/drawing/2014/main" id="{C66EBB3F-F4D9-4537-A620-9DA36FCE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-2">
            <a:extLst xmlns:a="http://schemas.openxmlformats.org/drawingml/2006/main">
              <a:ext uri="{FF2B5EF4-FFF2-40B4-BE49-F238E27FC236}">
                <a16:creationId xmlns:a16="http://schemas.microsoft.com/office/drawing/2014/main" id="{6765AAD2-047B-44BF-85EC-2AD31626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71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085EDD03-B9E9-4720-9C6C-F95F5DA4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7625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quote nguyên văn có thể đưa vào demo</a:t>
            </a:r>
          </a:p>
        </p:txBody>
      </p:sp>
      <p:sp>
        <p:nvSpPr>
          <p:cNvPr id="10" name="stat-card-3">
            <a:extLst xmlns:a="http://schemas.openxmlformats.org/drawingml/2006/main">
              <a:ext uri="{FF2B5EF4-FFF2-40B4-BE49-F238E27FC236}">
                <a16:creationId xmlns:a16="http://schemas.microsoft.com/office/drawing/2014/main" id="{7797D103-A8A9-40DA-9427-A0D59028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E4484A8D-3E15-4369-B7AB-88E3A2F1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371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</a:defRPr>
            </a:pPr>
            <a:r>
              <a:rPr sz="52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AB3523ED-7FB0-4FC9-838D-3EE10024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7625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thay đổi đã ghi từ feedback vào changelog</a:t>
            </a:r>
          </a:p>
        </p:txBody>
      </p:sp>
    </p:spTree>
    <p:extLst>
      <p:ext uri="{BB962C8B-B14F-4D97-AF65-F5344CB8AC3E}">
        <p14:creationId xmlns:p14="http://schemas.microsoft.com/office/powerpoint/2010/main" val="1492403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ooter-6">
            <a:extLst xmlns:a="http://schemas.openxmlformats.org/drawingml/2006/main">
              <a:ext uri="{FF2B5EF4-FFF2-40B4-BE49-F238E27FC236}">
                <a16:creationId xmlns:a16="http://schemas.microsoft.com/office/drawing/2014/main" id="{27276958-6B81-4946-BAE3-A7F4364F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06</a:t>
            </a:r>
          </a:p>
        </p:txBody>
      </p:sp>
      <p:sp>
        <p:nvSpPr>
          <p:cNvPr id="2" name="next-title">
            <a:extLst xmlns:a="http://schemas.openxmlformats.org/drawingml/2006/main">
              <a:ext uri="{FF2B5EF4-FFF2-40B4-BE49-F238E27FC236}">
                <a16:creationId xmlns:a16="http://schemas.microsoft.com/office/drawing/2014/main" id="{97B9CF00-6DDD-43A8-880E-4FF285A2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Một tuần nữa: đóng khoảng trống tin cậy</a:t>
            </a:r>
          </a:p>
        </p:txBody>
      </p:sp>
      <p:cxnSp>
        <p:nvCxnSpPr>
          <p:cNvPr id="22" name="week-line"/>
          <p:cNvCxnSpPr/>
          <p:nvPr/>
        </p:nvCxnSpPr>
        <p:spPr>
          <a:xfrm xmlns:a="http://schemas.openxmlformats.org/drawingml/2006/main">
            <a:off x="337757" y="5341620"/>
            <a:ext cx="1224543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week-dot-1">
            <a:extLst xmlns:a="http://schemas.openxmlformats.org/drawingml/2006/main">
              <a:ext uri="{FF2B5EF4-FFF2-40B4-BE49-F238E27FC236}">
                <a16:creationId xmlns:a16="http://schemas.microsoft.com/office/drawing/2014/main" id="{6D21527C-8A1C-4252-9325-58A1DC11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eek-dot-2">
            <a:extLst xmlns:a="http://schemas.openxmlformats.org/drawingml/2006/main">
              <a:ext uri="{FF2B5EF4-FFF2-40B4-BE49-F238E27FC236}">
                <a16:creationId xmlns:a16="http://schemas.microsoft.com/office/drawing/2014/main" id="{9E8E56D0-EDB9-43C5-B9E3-EEF4E012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eek-dot-3">
            <a:extLst xmlns:a="http://schemas.openxmlformats.org/drawingml/2006/main">
              <a:ext uri="{FF2B5EF4-FFF2-40B4-BE49-F238E27FC236}">
                <a16:creationId xmlns:a16="http://schemas.microsoft.com/office/drawing/2014/main" id="{4C37617B-DE06-415D-A3BD-6EE0FD6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eek-card-1">
            <a:extLst xmlns:a="http://schemas.openxmlformats.org/drawingml/2006/main">
              <a:ext uri="{FF2B5EF4-FFF2-40B4-BE49-F238E27FC236}">
                <a16:creationId xmlns:a16="http://schemas.microsoft.com/office/drawing/2014/main" id="{CEA6E9FB-FCD0-463A-BBDA-786CC3C3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eek-title-1">
            <a:extLst xmlns:a="http://schemas.openxmlformats.org/drawingml/2006/main">
              <a:ext uri="{FF2B5EF4-FFF2-40B4-BE49-F238E27FC236}">
                <a16:creationId xmlns:a16="http://schemas.microsoft.com/office/drawing/2014/main" id="{A4DA4FF3-4427-4872-A3BB-8706664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1806797"/>
            <a:ext cx="294932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9" name="week-body-1">
            <a:extLst xmlns:a="http://schemas.openxmlformats.org/drawingml/2006/main">
              <a:ext uri="{FF2B5EF4-FFF2-40B4-BE49-F238E27FC236}">
                <a16:creationId xmlns:a16="http://schemas.microsoft.com/office/drawing/2014/main" id="{78BD5BF1-F0E6-405D-B465-344EBEEF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2419350"/>
            <a:ext cx="2949321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71"/>
                </a:solidFill>
              </a:defRPr>
            </a:pPr>
            <a:r>
              <a:rPr sz="1650" b="0">
                <a:solidFill>
                  <a:srgbClr val="596171"/>
                </a:solidFill>
              </a:rPr>
              <a:t>Chạy 5 phiên với người ngoài nhóm, lấy ít nhất 2 quote thật, rồi chốt một thay đổi từ feedback.</a:t>
            </a:r>
          </a:p>
        </p:txBody>
      </p:sp>
      <p:sp>
        <p:nvSpPr>
          <p:cNvPr id="10" name="week-label-1">
            <a:extLst xmlns:a="http://schemas.openxmlformats.org/drawingml/2006/main">
              <a:ext uri="{FF2B5EF4-FFF2-40B4-BE49-F238E27FC236}">
                <a16:creationId xmlns:a16="http://schemas.microsoft.com/office/drawing/2014/main" id="{C684BE2C-CBD9-4DF5-B923-D064AD23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User proof</a:t>
            </a:r>
          </a:p>
        </p:txBody>
      </p:sp>
      <p:sp>
        <p:nvSpPr>
          <p:cNvPr id="11" name="week-card-2">
            <a:extLst xmlns:a="http://schemas.openxmlformats.org/drawingml/2006/main">
              <a:ext uri="{FF2B5EF4-FFF2-40B4-BE49-F238E27FC236}">
                <a16:creationId xmlns:a16="http://schemas.microsoft.com/office/drawing/2014/main" id="{37CCD13D-1119-44BA-A28C-3BF5EA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eek-title-2">
            <a:extLst xmlns:a="http://schemas.openxmlformats.org/drawingml/2006/main">
              <a:ext uri="{FF2B5EF4-FFF2-40B4-BE49-F238E27FC236}">
                <a16:creationId xmlns:a16="http://schemas.microsoft.com/office/drawing/2014/main" id="{D69D98F6-CCF6-4F9C-A0E3-6E7B0388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1806797"/>
            <a:ext cx="294932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Grounding</a:t>
            </a:r>
          </a:p>
        </p:txBody>
      </p:sp>
      <p:sp>
        <p:nvSpPr>
          <p:cNvPr id="13" name="week-body-2">
            <a:extLst xmlns:a="http://schemas.openxmlformats.org/drawingml/2006/main">
              <a:ext uri="{FF2B5EF4-FFF2-40B4-BE49-F238E27FC236}">
                <a16:creationId xmlns:a16="http://schemas.microsoft.com/office/drawing/2014/main" id="{1EF3C021-EB8E-4260-BDFA-932A2473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2419350"/>
            <a:ext cx="2949321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71"/>
                </a:solidFill>
              </a:defRPr>
            </a:pPr>
            <a:r>
              <a:rPr sz="1650" b="0">
                <a:solidFill>
                  <a:srgbClr val="596171"/>
                </a:solidFill>
              </a:rPr>
              <a:t>Gắn page/slide citation trong summary và quiz; cảnh báo confidence thấp với slide ít chữ.</a:t>
            </a:r>
          </a:p>
        </p:txBody>
      </p:sp>
      <p:sp>
        <p:nvSpPr>
          <p:cNvPr id="14" name="week-label-2">
            <a:extLst xmlns:a="http://schemas.openxmlformats.org/drawingml/2006/main">
              <a:ext uri="{FF2B5EF4-FFF2-40B4-BE49-F238E27FC236}">
                <a16:creationId xmlns:a16="http://schemas.microsoft.com/office/drawing/2014/main" id="{520A5ADB-C0D9-4C19-AFB4-961DF90F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Source proof</a:t>
            </a:r>
          </a:p>
        </p:txBody>
      </p:sp>
      <p:sp>
        <p:nvSpPr>
          <p:cNvPr id="15" name="week-card-3">
            <a:extLst xmlns:a="http://schemas.openxmlformats.org/drawingml/2006/main">
              <a:ext uri="{FF2B5EF4-FFF2-40B4-BE49-F238E27FC236}">
                <a16:creationId xmlns:a16="http://schemas.microsoft.com/office/drawing/2014/main" id="{51F378D4-B3A7-4165-B8E3-31E7BC63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eek-title-3">
            <a:extLst xmlns:a="http://schemas.openxmlformats.org/drawingml/2006/main">
              <a:ext uri="{FF2B5EF4-FFF2-40B4-BE49-F238E27FC236}">
                <a16:creationId xmlns:a16="http://schemas.microsoft.com/office/drawing/2014/main" id="{37A4C546-34B2-4B58-A308-5F202057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1806797"/>
            <a:ext cx="294932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Demo hardening</a:t>
            </a:r>
          </a:p>
        </p:txBody>
      </p:sp>
      <p:sp>
        <p:nvSpPr>
          <p:cNvPr id="17" name="week-body-3">
            <a:extLst xmlns:a="http://schemas.openxmlformats.org/drawingml/2006/main">
              <a:ext uri="{FF2B5EF4-FFF2-40B4-BE49-F238E27FC236}">
                <a16:creationId xmlns:a16="http://schemas.microsoft.com/office/drawing/2014/main" id="{E3095C24-3237-4D68-A2E8-25DF8DB4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2419350"/>
            <a:ext cx="2949321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71"/>
                </a:solidFill>
              </a:defRPr>
            </a:pPr>
            <a:r>
              <a:rPr sz="1650" b="0">
                <a:solidFill>
                  <a:srgbClr val="596171"/>
                </a:solidFill>
              </a:rPr>
              <a:t>Thêm E2E smoke, mock fallback, giảm latency và chuẩn bị backup recording.</a:t>
            </a:r>
          </a:p>
        </p:txBody>
      </p:sp>
      <p:sp>
        <p:nvSpPr>
          <p:cNvPr id="18" name="week-label-3">
            <a:extLst xmlns:a="http://schemas.openxmlformats.org/drawingml/2006/main">
              <a:ext uri="{FF2B5EF4-FFF2-40B4-BE49-F238E27FC236}">
                <a16:creationId xmlns:a16="http://schemas.microsoft.com/office/drawing/2014/main" id="{2EA0E53E-65D6-439E-9FD1-D046B821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Demo proof</a:t>
            </a:r>
          </a:p>
        </p:txBody>
      </p:sp>
      <p:sp>
        <p:nvSpPr>
          <p:cNvPr id="19" name="lesson-learned">
            <a:extLst xmlns:a="http://schemas.openxmlformats.org/drawingml/2006/main">
              <a:ext uri="{FF2B5EF4-FFF2-40B4-BE49-F238E27FC236}">
                <a16:creationId xmlns:a16="http://schemas.microsoft.com/office/drawing/2014/main" id="{22181E7C-F161-46A0-91F7-139D362F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9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1"/>
                </a:solidFill>
              </a:defRPr>
            </a:pPr>
            <a:r>
              <a:rPr sz="1500" b="0">
                <a:solidFill>
                  <a:srgbClr val="596171"/>
                </a:solidFill>
              </a:rPr>
              <a:t>Bài học: grounding và validation tạo niềm tin mạnh hơn việc thêm nhiều tính năng.</a:t>
            </a:r>
          </a:p>
        </p:txBody>
      </p:sp>
    </p:spTree>
    <p:extLst>
      <p:ext uri="{BB962C8B-B14F-4D97-AF65-F5344CB8AC3E}">
        <p14:creationId xmlns:p14="http://schemas.microsoft.com/office/powerpoint/2010/main" val="1345368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2026-07-31T02:54:22.4970000Z</dcterms:created>
  <dcterms:modified xsi:type="dcterms:W3CDTF">2026-07-31T02:54:22.4980000Z</dcterms:modified>
</coreProperties>
</file>